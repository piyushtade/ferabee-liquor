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FBBF24"/>
                </a:solidFill>
              </a:defRPr>
            </a:pPr>
            <a:r>
              <a:t>FERABEE LIQUOR — THE ROYAL BEE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</a:defRPr>
            </a:pPr>
            <a:r>
              <a:t>Scaling India's First Direct-to-Consumer Craft Spirits Brand &amp; 367-Taluka Bee Lounge Franchise Network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Series-A Equity Offering: ₹18.00 Crore for 25.0% Stake | Pre-Money: ₹54.0 Cr | Post-Money: ₹72.0 Cr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754880"/>
            <a:ext cx="2468880" cy="12801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489204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BBF24"/>
                </a:solidFill>
              </a:defRPr>
            </a:pPr>
            <a:r>
              <a:t>367 TALUKAS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Exclusive Network Footprint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4754880"/>
            <a:ext cx="246888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489204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2.09L CASES / YR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Captive Off-Take Liquidation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754880"/>
            <a:ext cx="246888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489204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₹9.95L / MONTH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Lounge Net Cash Profit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754880"/>
            <a:ext cx="2468880" cy="12801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489204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BBF24"/>
                </a:solidFill>
              </a:defRPr>
            </a:pPr>
            <a:r>
              <a:t>3.5x – 10.8x MOIC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36-Month Strategic Exit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BBF24"/>
                </a:solidFill>
              </a:defRPr>
            </a:pPr>
            <a:r>
              <a:t>FERABEE LIQUOR PRIVATE LIMITED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Core Industry Bottleneck: The Retail Distribution Trap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1. Distributor Cartels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Traditional liquor retail is choked by distributor monopolies and state corporation quotas (MSILC).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New craft entrants face extreme pay-to-play barriers just to secure shelf space.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Up to 35-40% of brand revenue is bled on retailer kickbacks and distributor margins.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0020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2. Zero Customer Connection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Traditional wine shops offer zero experiential tasting or brand storytelling.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Consumers default to legacy incumbent brands due to lack of direct trial avenues.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High marketing spend fails to convert into reliable recurring off-take.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60020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BBF24"/>
                </a:solidFill>
              </a:defRPr>
            </a:pPr>
            <a:r>
              <a:t>3. Capital Inefficiency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Emerging brands burn massive capital funding credit cycles (60-90 days receivable lag).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Retail inventory lockup without guaranteed liquidating velocity.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Massive vulnerability to state policy shifts and retailer non-payment.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BBF24"/>
                </a:solidFill>
              </a:defRPr>
            </a:pPr>
            <a:r>
              <a:t>FERABEE LIQUOR PRIVATE LIMITED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FeraBee Strategic Disruption: Captive Hospitality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The 367-Taluka Captive Network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Building an exclusive chain of 100-cover 'Bee Lounges' across 355 Maharashtra &amp; 12 Goa Talukas.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Zero Retail Dependency: 100% direct-to-consumer liquidation through captive pouring.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Guaranteed Volume Engine: Generates 2,09,190 cases (1.88M Litres) in annual off-take.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Franchise Owned Company Operated (FOCO): Asset-light expansion fully funded by local franchise partners.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BBF24"/>
                </a:solidFill>
              </a:defRPr>
            </a:pPr>
            <a:r>
              <a:t>The Prix-Fixe Tasting Catalyst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Fixed-Price Tasting Packages (Silver ₹999, Gold ₹1,499, Platinum ₹1,999) create viral consumer pull.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Extreme Perceived Value: High-end culinary dining paired with measured craft spirits tasting.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Predictable High Velocity: 150 guests/day per lounge ensures steady, recurring cash flow.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Captures Both Margins: FeraBee captures manufacturer margin (15-35%) + retail franchise royalty (6%).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BBF24"/>
                </a:solidFill>
              </a:defRPr>
            </a:pPr>
            <a:r>
              <a:t>FERABEE LIQUOR PRIVATE LIMITED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Proprietary Product Mix &amp; High-Margin Architecture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94560"/>
                <a:gridCol w="1645920"/>
                <a:gridCol w="1371600"/>
                <a:gridCol w="1463040"/>
                <a:gridCol w="1645920"/>
              </a:tblGrid>
              <a:tr h="65314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BBF24"/>
                          </a:solidFill>
                        </a:defRPr>
                      </a:pPr>
                      <a:r>
                        <a:t>Product SKU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BBF24"/>
                          </a:solidFill>
                        </a:defRPr>
                      </a:pPr>
                      <a:r>
                        <a:t>Specification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BBF24"/>
                          </a:solidFill>
                        </a:defRPr>
                      </a:pPr>
                      <a:r>
                        <a:t>Packaging Format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BBF24"/>
                          </a:solidFill>
                        </a:defRPr>
                      </a:pPr>
                      <a:r>
                        <a:t>MH Retail MRP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BBF24"/>
                          </a:solidFill>
                        </a:defRPr>
                      </a:pPr>
                      <a:r>
                        <a:t>Serving COGS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BBF24"/>
                          </a:solidFill>
                        </a:defRPr>
                      </a:pPr>
                      <a:r>
                        <a:t>Gross Margin (%)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FeraBee Reserve Whisky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42.8% Grain &amp; Malt, Honey Finish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750ml Black Glass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₹2,200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₹35 / 60ml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80.5%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FeraBee Pure Vodka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42.8% Triple-Distilled Grain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750ml Clear Glass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₹1,900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₹22 / 60ml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85.3%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FeraBee Botanical Gin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42.8% Artisanal Botanicals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750ml Clear Glass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₹2,400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₹30 / 60ml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82.3%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FeraBee Dark Rum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42.8% Aged Molasses Rum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750ml Glass Bottle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₹1,700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₹25 / 60ml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82.1%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FeraBee Crisp Lager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5.0% ABV Craft Lager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650ml Btl / 500ml Can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₹250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₹55 / 500ml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69.4%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FeraBee Sparkling Wine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12.0% ABV Sparkling Brut/Rose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750ml Glass Bottle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₹1,500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₹90 / 150ml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64.0%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BBF24"/>
                </a:solidFill>
              </a:defRPr>
            </a:pPr>
            <a:r>
              <a:t>FERABEE LIQUOR PRIVATE LIMITED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100-Cover Bee Lounge Monthly Unit Economics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BBF24"/>
                </a:solidFill>
              </a:defRPr>
            </a:pPr>
            <a:r>
              <a:t>Monthly Revenue Breakdown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Operating Days: 26 Days / Month (Monday maintenance).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Daily Unlimited Guests: 105 Guests @ ₹1,499 avg ticket.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Daily A La Carte Guests: 45 Guests @ ₹850 avg spend.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Gross Monthly Revenue: ₹50,86,770 (~₹6.10 Crore Annualized).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Food &amp; Spirits COGS: ₹24,41,650 (48.0%).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Gross Operating Profit: ₹26,45,120 (52.0% Gross Margin).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Monthly OPEX &amp; Net Profit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Rent &amp; CAM (3,000 sq.ft prime): ₹4,50,000.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Payroll (22 full-time staff across 2 shifts): ₹5,50,000.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Power, HVAC &amp; Refrigeration: ₹1,50,000.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Brand Royalty (6%) &amp; Tech SaaS: ₹3,00,000.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FL-III License Amortization: ₹1,50,000.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TOTAL MONTHLY OPEX: ₹16,50,000.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NET CASH PROFIT (FRANCHISEE): ₹9,95,120 / Month (₹1.19 Cr/Yr).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PAYBACK PERIOD: 12.6 to 18.0 Months on ₹1.25 Cr Capex (IRR ~62%).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BBF24"/>
                </a:solidFill>
              </a:defRPr>
            </a:pPr>
            <a:r>
              <a:t>FERABEE LIQUOR PRIVATE LIMITED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3-Year Consolidated Financial Projections &amp; Trajectory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920240"/>
                <a:gridCol w="1920240"/>
                <a:gridCol w="1920240"/>
                <a:gridCol w="1920240"/>
              </a:tblGrid>
              <a:tr h="59436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BBF24"/>
                          </a:solidFill>
                        </a:defRPr>
                      </a:pPr>
                      <a:r>
                        <a:t>Financial Head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BBF24"/>
                          </a:solidFill>
                        </a:defRPr>
                      </a:pPr>
                      <a:r>
                        <a:t>Year 1 (60 Lounges)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BBF24"/>
                          </a:solidFill>
                        </a:defRPr>
                      </a:pPr>
                      <a:r>
                        <a:t>Year 2 (150 Lounges)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BBF24"/>
                          </a:solidFill>
                        </a:defRPr>
                      </a:pPr>
                      <a:r>
                        <a:t>Year 3 Base (250 Lounges)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BBF24"/>
                          </a:solidFill>
                        </a:defRPr>
                      </a:pPr>
                      <a:r>
                        <a:t>Year 3 Bull (367 Lounges)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Franchise Royalty (6%)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₹9.18 Crore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₹25.20 Crore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₹46.00 Crore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₹67.60 Crore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Wholesale Supply Margin (15%)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₹7.20 Crore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₹16.20 Crore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₹28.00 Crore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₹40.00 Crore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Retail Off-Trade Sales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₹15.00 Crore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₹30.00 Crore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₹50.00 Crore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₹85.00 Crore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 CONSOLIDATED REVENUE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₹37.38 Crore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₹80.40 Crore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₹134.00 Crore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₹204.30 – ₹285.00 Cr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CONSOLIDATED EBITDA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₹10.00 Cr (26.7%)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₹23.00 Cr (28.6%)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₹36.00 Cr (26.9%)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₹78.00 Cr (38.2%)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BBF24"/>
                          </a:solidFill>
                        </a:defRPr>
                      </a:pPr>
                      <a:r>
                        <a:t>ENTERPRISE VALUATION (EV)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BBF24"/>
                          </a:solidFill>
                        </a:defRPr>
                      </a:pPr>
                      <a:r>
                        <a:t>₹80.00 Crore (8x)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BBF24"/>
                          </a:solidFill>
                        </a:defRPr>
                      </a:pPr>
                      <a:r>
                        <a:t>₹184.00 Crore (8x)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BBF24"/>
                          </a:solidFill>
                        </a:defRPr>
                      </a:pPr>
                      <a:r>
                        <a:t>₹288.00 Crore (8x)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BBF24"/>
                          </a:solidFill>
                        </a:defRPr>
                      </a:pPr>
                      <a:r>
                        <a:t>₹780.00 Crore (10x)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BBF24"/>
                          </a:solidFill>
                        </a:defRPr>
                      </a:pPr>
                      <a:r>
                        <a:t>Investor MOIC (on ₹18 Cr Ask)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BBF24"/>
                          </a:solidFill>
                        </a:defRPr>
                      </a:pPr>
                      <a:r>
                        <a:t>1.11x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BBF24"/>
                          </a:solidFill>
                        </a:defRPr>
                      </a:pPr>
                      <a:r>
                        <a:t>2.55x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BBF24"/>
                          </a:solidFill>
                        </a:defRPr>
                      </a:pPr>
                      <a:r>
                        <a:t>4.00x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BBF24"/>
                          </a:solidFill>
                        </a:defRPr>
                      </a:pPr>
                      <a:r>
                        <a:t>10.83x (121% IRR)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BBF24"/>
                </a:solidFill>
              </a:defRPr>
            </a:pPr>
            <a:r>
              <a:t>FERABEE LIQUOR PRIVATE LIMITED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Series-A ₹18.0 Crore Capital Structure &amp; Use of Funds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11480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BBF24"/>
                </a:solidFill>
              </a:defRPr>
            </a:pPr>
            <a:r>
              <a:t>Offering Structure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Round Size: ₹18.00 Crore Series-A Preferred Equity.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Shareholding Offered: 25.0% Fully Diluted.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Pre-Money Valuation: ₹54.00 Crore.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Post-Money Valuation: ₹72.00 Crore.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Founders Equity: 75.0% Common Shareholding.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Bank Working Capital: ₹3.50 Crore CC facility.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463040"/>
            <a:ext cx="630936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57800" y="1600200"/>
            <a:ext cx="6035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Line-by-Line Fund Deployment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Custom Glass Moulds &amp; Tooling (6 SKUs): ₹4.20 Cr (23.3%) — Exclusive tooling for Black Glass, Amber Beer, Gold Can.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3 Flagship Corporate COCO Lounges: ₹3.45 Cr (19.2%) — Proof of concept in Pune, Thane, and Panjim (Goa).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Working Capital &amp; Excise Security: ₹3.00 Cr (16.7%) — MSILC/GEMS deposits and raw material inventory.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State Excise Licenses &amp; 24 Labels: ₹2.00 Cr (11.1%) — FL-1 wholesale hub and multi-state label approvals.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Brand Launch Marketing &amp; PR Blitz: ₹2.00 Cr (11.1%) — Launch campaigns, hoardings, influencer activations.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Executive Team &amp; Field Organization: ₹1.20 Cr (6.7%) — Master Blender, Legal counsel, 10 Sales Area Managers.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Contingency Buffer &amp; Reserve: ₹2.15 Cr (11.9%) — 24-month regulatory and liquidity reserve.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BBF24"/>
                </a:solidFill>
              </a:defRPr>
            </a:pPr>
            <a:r>
              <a:t>FERABEE LIQUOR PRIVATE LIMITED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Valuation Sensitivity Bridge &amp; 36-Month Strategic Exit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Bear Case Scenario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Outlets: 150 Lounges.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Revenue: ₹61.0 Crore.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EBITDA: ₹15.25 Cr (25%).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Multiple: 6.0x EV / EBITDA.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Enterprise Value: ₹91.5 Cr.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Investor Value: ₹22.88 Cr.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Investor MOIC: 1.27x.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Target IRR: 8.3%.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0020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Base Case (Target Realistic)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Outlets: 250 Lounges.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Revenue: ₹134.0 Crore.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EBITDA: ₹36.00 Cr (26.9%).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Multiple: 8.0x EV / EBITDA.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Enterprise Value: ₹288.0 Cr.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Investor Value: ₹72.00 Cr.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Investor MOIC: 4.00x.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Target IRR: 58.7%.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60020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BBF24"/>
                </a:solidFill>
              </a:defRPr>
            </a:pPr>
            <a:r>
              <a:t>Bull Case (Maximum Scale)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Outlets: 367 Lounges.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Revenue: ₹285.0 Crore.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EBITDA: ₹78.00 Cr (38.2%).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Multiple: 10.0x EV / EBITDA.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Enterprise Value: ₹780.0 Cr.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Investor Value: ₹195.00 Cr.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Investor MOIC: 10.83x.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Target IRR: 121.2%.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BBF24"/>
                </a:solidFill>
              </a:defRPr>
            </a:pPr>
            <a:r>
              <a:t>JOIN THE FERABEE EXPANSION</a:t>
            </a:r>
          </a:p>
          <a:p>
            <a:pPr>
              <a:spcAft>
                <a:spcPts val="2000"/>
              </a:spcAft>
              <a:defRPr sz="1800">
                <a:solidFill>
                  <a:srgbClr val="FFFFFF"/>
                </a:solidFill>
              </a:defRPr>
            </a:pPr>
            <a:r>
              <a:t>Series-A Equity Investment &amp; Franchise Territory Allocation Open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FeraBee Liquor Private Limited</a:t>
            </a:r>
            <a:br/>
            <a:r>
              <a:t>Headquarters: Pune, Maharashtra  |  Distillery Base: Goa</a:t>
            </a:r>
            <a:br/>
            <a:r>
              <a:t>Email: contact@ferabee.com  |  Tel: +91 (020) 2600-XXXX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